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uda Heavy" charset="1" panose="02000000000000000000"/>
      <p:regular r:id="rId10"/>
    </p:embeddedFont>
    <p:embeddedFont>
      <p:font typeface="CMU Serif Italics" charset="1" panose="02000603000000000000"/>
      <p:regular r:id="rId11"/>
    </p:embeddedFont>
    <p:embeddedFont>
      <p:font typeface="Open Sans Bold" charset="1" panose="020B0806030504020204"/>
      <p:regular r:id="rId12"/>
    </p:embeddedFont>
    <p:embeddedFont>
      <p:font typeface="Bernoru" charset="1" panose="00000A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 Light" charset="1" panose="00000400000000000000"/>
      <p:regular r:id="rId15"/>
    </p:embeddedFont>
    <p:embeddedFont>
      <p:font typeface="Poppins" charset="1" panose="00000500000000000000"/>
      <p:regular r:id="rId16"/>
    </p:embeddedFont>
    <p:embeddedFont>
      <p:font typeface="Open Sans" charset="1" panose="020B0606030504020204"/>
      <p:regular r:id="rId17"/>
    </p:embeddedFont>
    <p:embeddedFont>
      <p:font typeface="League Spartan" charset="1" panose="00000800000000000000"/>
      <p:regular r:id="rId18"/>
    </p:embeddedFont>
    <p:embeddedFont>
      <p:font typeface="Ruda Bol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6216" y="4438335"/>
            <a:ext cx="16638844" cy="6960397"/>
            <a:chOff x="0" y="0"/>
            <a:chExt cx="848472" cy="354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8472" cy="354935"/>
            </a:xfrm>
            <a:custGeom>
              <a:avLst/>
              <a:gdLst/>
              <a:ahLst/>
              <a:cxnLst/>
              <a:rect r="r" b="b" t="t" l="l"/>
              <a:pathLst>
                <a:path h="354935" w="848472">
                  <a:moveTo>
                    <a:pt x="645272" y="0"/>
                  </a:moveTo>
                  <a:cubicBezTo>
                    <a:pt x="757497" y="0"/>
                    <a:pt x="848472" y="79455"/>
                    <a:pt x="848472" y="177467"/>
                  </a:cubicBezTo>
                  <a:cubicBezTo>
                    <a:pt x="848472" y="275480"/>
                    <a:pt x="757497" y="354935"/>
                    <a:pt x="645272" y="354935"/>
                  </a:cubicBezTo>
                  <a:lnTo>
                    <a:pt x="203200" y="354935"/>
                  </a:lnTo>
                  <a:cubicBezTo>
                    <a:pt x="90976" y="354935"/>
                    <a:pt x="0" y="275480"/>
                    <a:pt x="0" y="177467"/>
                  </a:cubicBezTo>
                  <a:cubicBezTo>
                    <a:pt x="0" y="79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CAD3">
                <a:alpha val="4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48472" cy="393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96613" y="7823471"/>
            <a:ext cx="11557301" cy="3575261"/>
            <a:chOff x="0" y="0"/>
            <a:chExt cx="1147354" cy="3549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7354" cy="354935"/>
            </a:xfrm>
            <a:custGeom>
              <a:avLst/>
              <a:gdLst/>
              <a:ahLst/>
              <a:cxnLst/>
              <a:rect r="r" b="b" t="t" l="l"/>
              <a:pathLst>
                <a:path h="354935" w="1147354">
                  <a:moveTo>
                    <a:pt x="944154" y="0"/>
                  </a:moveTo>
                  <a:cubicBezTo>
                    <a:pt x="1056378" y="0"/>
                    <a:pt x="1147354" y="79455"/>
                    <a:pt x="1147354" y="177467"/>
                  </a:cubicBezTo>
                  <a:cubicBezTo>
                    <a:pt x="1147354" y="275480"/>
                    <a:pt x="1056378" y="354935"/>
                    <a:pt x="944154" y="354935"/>
                  </a:cubicBezTo>
                  <a:lnTo>
                    <a:pt x="203200" y="354935"/>
                  </a:lnTo>
                  <a:cubicBezTo>
                    <a:pt x="90976" y="354935"/>
                    <a:pt x="0" y="275480"/>
                    <a:pt x="0" y="177467"/>
                  </a:cubicBezTo>
                  <a:cubicBezTo>
                    <a:pt x="0" y="79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CAD3">
                <a:alpha val="6274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7354" cy="393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08283" y="3333252"/>
            <a:ext cx="8375933" cy="8375933"/>
            <a:chOff x="0" y="0"/>
            <a:chExt cx="11167910" cy="1116791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167910" cy="1116791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7FD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82"/>
                  </a:lnSpc>
                </a:pPr>
              </a:p>
            </p:txBody>
          </p:sp>
        </p:grpSp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504498" y="504518"/>
              <a:ext cx="10158914" cy="10158874"/>
              <a:chOff x="0" y="0"/>
              <a:chExt cx="6350000" cy="634997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999" t="0" r="-24999" b="0"/>
                </a:stretch>
              </a:blip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5729337" y="8791846"/>
            <a:ext cx="913976" cy="819255"/>
          </a:xfrm>
          <a:custGeom>
            <a:avLst/>
            <a:gdLst/>
            <a:ahLst/>
            <a:cxnLst/>
            <a:rect r="r" b="b" t="t" l="l"/>
            <a:pathLst>
              <a:path h="819255" w="913976">
                <a:moveTo>
                  <a:pt x="0" y="0"/>
                </a:moveTo>
                <a:lnTo>
                  <a:pt x="913976" y="0"/>
                </a:lnTo>
                <a:lnTo>
                  <a:pt x="913976" y="819255"/>
                </a:lnTo>
                <a:lnTo>
                  <a:pt x="0" y="819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180457" y="1209445"/>
            <a:ext cx="17964250" cy="203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b="true" sz="5912">
                <a:solidFill>
                  <a:srgbClr val="67A2AB"/>
                </a:solidFill>
                <a:latin typeface="Ruda Heavy"/>
                <a:ea typeface="Ruda Heavy"/>
                <a:cs typeface="Ruda Heavy"/>
                <a:sym typeface="Ruda Heavy"/>
              </a:rPr>
              <a:t>URGENCIAS: ANÁLISIS Y PREDICCIÓN DE TIEMPOS DE ESPERA EN EL ÁREA DE URGENCIAS DEL HOSPITAL OBRERO N.º 1 DE LA PAZ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1682" y="4352610"/>
            <a:ext cx="10731886" cy="511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3"/>
              </a:lnSpc>
            </a:pPr>
            <a:r>
              <a:rPr lang="en-US" sz="4173" i="true">
                <a:solidFill>
                  <a:srgbClr val="55888F"/>
                </a:solidFill>
                <a:latin typeface="CMU Serif Italics"/>
                <a:ea typeface="CMU Serif Italics"/>
                <a:cs typeface="CMU Serif Italics"/>
                <a:sym typeface="CMU Serif Italics"/>
              </a:rPr>
              <a:t>Estudiantes: </a:t>
            </a:r>
          </a:p>
          <a:p>
            <a:pPr algn="l">
              <a:lnSpc>
                <a:spcPts val="5843"/>
              </a:lnSpc>
            </a:pPr>
            <a:r>
              <a:rPr lang="en-US" sz="4173" i="true">
                <a:solidFill>
                  <a:srgbClr val="55888F"/>
                </a:solidFill>
                <a:latin typeface="CMU Serif Italics"/>
                <a:ea typeface="CMU Serif Italics"/>
                <a:cs typeface="CMU Serif Italics"/>
                <a:sym typeface="CMU Serif Italics"/>
              </a:rPr>
              <a:t>Marco Antonio Calderon Rojas </a:t>
            </a:r>
          </a:p>
          <a:p>
            <a:pPr algn="l">
              <a:lnSpc>
                <a:spcPts val="5843"/>
              </a:lnSpc>
            </a:pPr>
            <a:r>
              <a:rPr lang="en-US" sz="4173" i="true">
                <a:solidFill>
                  <a:srgbClr val="55888F"/>
                </a:solidFill>
                <a:latin typeface="CMU Serif Italics"/>
                <a:ea typeface="CMU Serif Italics"/>
                <a:cs typeface="CMU Serif Italics"/>
                <a:sym typeface="CMU Serif Italics"/>
              </a:rPr>
              <a:t>Nazareth Constantina Padilla Caseres</a:t>
            </a:r>
          </a:p>
          <a:p>
            <a:pPr algn="l">
              <a:lnSpc>
                <a:spcPts val="5843"/>
              </a:lnSpc>
            </a:pPr>
            <a:r>
              <a:rPr lang="en-US" sz="4173" i="true">
                <a:solidFill>
                  <a:srgbClr val="55888F"/>
                </a:solidFill>
                <a:latin typeface="CMU Serif Italics"/>
                <a:ea typeface="CMU Serif Italics"/>
                <a:cs typeface="CMU Serif Italics"/>
                <a:sym typeface="CMU Serif Italics"/>
              </a:rPr>
              <a:t>Dilan Jose Paco Padilla Daner</a:t>
            </a:r>
          </a:p>
          <a:p>
            <a:pPr algn="l">
              <a:lnSpc>
                <a:spcPts val="5843"/>
              </a:lnSpc>
            </a:pPr>
            <a:r>
              <a:rPr lang="en-US" sz="4173" i="true">
                <a:solidFill>
                  <a:srgbClr val="55888F"/>
                </a:solidFill>
                <a:latin typeface="CMU Serif Italics"/>
                <a:ea typeface="CMU Serif Italics"/>
                <a:cs typeface="CMU Serif Italics"/>
                <a:sym typeface="CMU Serif Italics"/>
              </a:rPr>
              <a:t>Kathlen Lenny Escalante Sirpa</a:t>
            </a:r>
          </a:p>
          <a:p>
            <a:pPr algn="l">
              <a:lnSpc>
                <a:spcPts val="5843"/>
              </a:lnSpc>
            </a:pPr>
            <a:r>
              <a:rPr lang="en-US" sz="4173" i="true">
                <a:solidFill>
                  <a:srgbClr val="55888F"/>
                </a:solidFill>
                <a:latin typeface="CMU Serif Italics"/>
                <a:ea typeface="CMU Serif Italics"/>
                <a:cs typeface="CMU Serif Italics"/>
                <a:sym typeface="CMU Serif Italics"/>
              </a:rPr>
              <a:t>Hans Héctor Choque Quenta </a:t>
            </a:r>
          </a:p>
          <a:p>
            <a:pPr algn="l">
              <a:lnSpc>
                <a:spcPts val="5843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6360272" y="1372183"/>
            <a:ext cx="1798055" cy="1532086"/>
            <a:chOff x="0" y="0"/>
            <a:chExt cx="2397407" cy="20427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680805"/>
              <a:ext cx="1272787" cy="1255901"/>
            </a:xfrm>
            <a:custGeom>
              <a:avLst/>
              <a:gdLst/>
              <a:ahLst/>
              <a:cxnLst/>
              <a:rect r="r" b="b" t="t" l="l"/>
              <a:pathLst>
                <a:path h="1255901" w="1272787">
                  <a:moveTo>
                    <a:pt x="0" y="0"/>
                  </a:moveTo>
                  <a:lnTo>
                    <a:pt x="1272787" y="0"/>
                  </a:lnTo>
                  <a:lnTo>
                    <a:pt x="1272787" y="1255901"/>
                  </a:lnTo>
                  <a:lnTo>
                    <a:pt x="0" y="1255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495778" b="-543573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55081" y="0"/>
              <a:ext cx="842326" cy="831150"/>
            </a:xfrm>
            <a:custGeom>
              <a:avLst/>
              <a:gdLst/>
              <a:ahLst/>
              <a:cxnLst/>
              <a:rect r="r" b="b" t="t" l="l"/>
              <a:pathLst>
                <a:path h="831150" w="842326">
                  <a:moveTo>
                    <a:pt x="0" y="0"/>
                  </a:moveTo>
                  <a:lnTo>
                    <a:pt x="842326" y="0"/>
                  </a:lnTo>
                  <a:lnTo>
                    <a:pt x="842326" y="831150"/>
                  </a:lnTo>
                  <a:lnTo>
                    <a:pt x="0" y="83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495778" b="-543573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656681" y="1412135"/>
              <a:ext cx="639126" cy="630646"/>
            </a:xfrm>
            <a:custGeom>
              <a:avLst/>
              <a:gdLst/>
              <a:ahLst/>
              <a:cxnLst/>
              <a:rect r="r" b="b" t="t" l="l"/>
              <a:pathLst>
                <a:path h="630646" w="639126">
                  <a:moveTo>
                    <a:pt x="0" y="0"/>
                  </a:moveTo>
                  <a:lnTo>
                    <a:pt x="639126" y="0"/>
                  </a:lnTo>
                  <a:lnTo>
                    <a:pt x="639126" y="630646"/>
                  </a:lnTo>
                  <a:lnTo>
                    <a:pt x="0" y="630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495778" b="-54357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405" y="1141799"/>
            <a:ext cx="7396938" cy="2058443"/>
            <a:chOff x="0" y="0"/>
            <a:chExt cx="2688791" cy="748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8791" cy="748245"/>
            </a:xfrm>
            <a:custGeom>
              <a:avLst/>
              <a:gdLst/>
              <a:ahLst/>
              <a:cxnLst/>
              <a:rect r="r" b="b" t="t" l="l"/>
              <a:pathLst>
                <a:path h="748245" w="2688791">
                  <a:moveTo>
                    <a:pt x="53379" y="0"/>
                  </a:moveTo>
                  <a:lnTo>
                    <a:pt x="2635412" y="0"/>
                  </a:lnTo>
                  <a:cubicBezTo>
                    <a:pt x="2664892" y="0"/>
                    <a:pt x="2688791" y="23898"/>
                    <a:pt x="2688791" y="53379"/>
                  </a:cubicBezTo>
                  <a:lnTo>
                    <a:pt x="2688791" y="694866"/>
                  </a:lnTo>
                  <a:cubicBezTo>
                    <a:pt x="2688791" y="709023"/>
                    <a:pt x="2683167" y="722600"/>
                    <a:pt x="2673156" y="732611"/>
                  </a:cubicBezTo>
                  <a:cubicBezTo>
                    <a:pt x="2663146" y="742621"/>
                    <a:pt x="2649569" y="748245"/>
                    <a:pt x="2635412" y="748245"/>
                  </a:cubicBezTo>
                  <a:lnTo>
                    <a:pt x="53379" y="748245"/>
                  </a:lnTo>
                  <a:cubicBezTo>
                    <a:pt x="39222" y="748245"/>
                    <a:pt x="25645" y="742621"/>
                    <a:pt x="15634" y="732611"/>
                  </a:cubicBezTo>
                  <a:cubicBezTo>
                    <a:pt x="5624" y="722600"/>
                    <a:pt x="0" y="709023"/>
                    <a:pt x="0" y="694866"/>
                  </a:cubicBezTo>
                  <a:lnTo>
                    <a:pt x="0" y="53379"/>
                  </a:lnTo>
                  <a:cubicBezTo>
                    <a:pt x="0" y="39222"/>
                    <a:pt x="5624" y="25645"/>
                    <a:pt x="15634" y="15634"/>
                  </a:cubicBezTo>
                  <a:cubicBezTo>
                    <a:pt x="25645" y="5624"/>
                    <a:pt x="39222" y="0"/>
                    <a:pt x="53379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88791" cy="786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5243440" y="6355384"/>
            <a:ext cx="5247619" cy="5143500"/>
          </a:xfrm>
          <a:custGeom>
            <a:avLst/>
            <a:gdLst/>
            <a:ahLst/>
            <a:cxnLst/>
            <a:rect r="r" b="b" t="t" l="l"/>
            <a:pathLst>
              <a:path h="5143500" w="5247619">
                <a:moveTo>
                  <a:pt x="5247619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5247619" y="0"/>
                </a:lnTo>
                <a:lnTo>
                  <a:pt x="5247619" y="514350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8343420" y="1056539"/>
            <a:ext cx="7453452" cy="2069014"/>
            <a:chOff x="0" y="0"/>
            <a:chExt cx="2577250" cy="715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7250" cy="715422"/>
            </a:xfrm>
            <a:custGeom>
              <a:avLst/>
              <a:gdLst/>
              <a:ahLst/>
              <a:cxnLst/>
              <a:rect r="r" b="b" t="t" l="l"/>
              <a:pathLst>
                <a:path h="715422" w="2577250">
                  <a:moveTo>
                    <a:pt x="52974" y="0"/>
                  </a:moveTo>
                  <a:lnTo>
                    <a:pt x="2524276" y="0"/>
                  </a:lnTo>
                  <a:cubicBezTo>
                    <a:pt x="2553533" y="0"/>
                    <a:pt x="2577250" y="23717"/>
                    <a:pt x="2577250" y="52974"/>
                  </a:cubicBezTo>
                  <a:lnTo>
                    <a:pt x="2577250" y="662449"/>
                  </a:lnTo>
                  <a:cubicBezTo>
                    <a:pt x="2577250" y="691705"/>
                    <a:pt x="2553533" y="715422"/>
                    <a:pt x="2524276" y="715422"/>
                  </a:cubicBezTo>
                  <a:lnTo>
                    <a:pt x="52974" y="715422"/>
                  </a:lnTo>
                  <a:cubicBezTo>
                    <a:pt x="38924" y="715422"/>
                    <a:pt x="25450" y="709841"/>
                    <a:pt x="15516" y="699907"/>
                  </a:cubicBezTo>
                  <a:cubicBezTo>
                    <a:pt x="5581" y="689972"/>
                    <a:pt x="0" y="676498"/>
                    <a:pt x="0" y="662449"/>
                  </a:cubicBezTo>
                  <a:lnTo>
                    <a:pt x="0" y="52974"/>
                  </a:lnTo>
                  <a:cubicBezTo>
                    <a:pt x="0" y="38924"/>
                    <a:pt x="5581" y="25450"/>
                    <a:pt x="15516" y="15516"/>
                  </a:cubicBezTo>
                  <a:cubicBezTo>
                    <a:pt x="25450" y="5581"/>
                    <a:pt x="38924" y="0"/>
                    <a:pt x="52974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77250" cy="753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37948" y="274386"/>
            <a:ext cx="1082024" cy="993495"/>
          </a:xfrm>
          <a:custGeom>
            <a:avLst/>
            <a:gdLst/>
            <a:ahLst/>
            <a:cxnLst/>
            <a:rect r="r" b="b" t="t" l="l"/>
            <a:pathLst>
              <a:path h="993495" w="1082024">
                <a:moveTo>
                  <a:pt x="0" y="0"/>
                </a:moveTo>
                <a:lnTo>
                  <a:pt x="1082024" y="0"/>
                </a:lnTo>
                <a:lnTo>
                  <a:pt x="1082024" y="993495"/>
                </a:lnTo>
                <a:lnTo>
                  <a:pt x="0" y="99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506573" y="1205690"/>
            <a:ext cx="721352" cy="662333"/>
          </a:xfrm>
          <a:custGeom>
            <a:avLst/>
            <a:gdLst/>
            <a:ahLst/>
            <a:cxnLst/>
            <a:rect r="r" b="b" t="t" l="l"/>
            <a:pathLst>
              <a:path h="662333" w="721352">
                <a:moveTo>
                  <a:pt x="0" y="0"/>
                </a:moveTo>
                <a:lnTo>
                  <a:pt x="721353" y="0"/>
                </a:lnTo>
                <a:lnTo>
                  <a:pt x="721353" y="662332"/>
                </a:lnTo>
                <a:lnTo>
                  <a:pt x="0" y="66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748962" y="1868022"/>
            <a:ext cx="659996" cy="605996"/>
          </a:xfrm>
          <a:custGeom>
            <a:avLst/>
            <a:gdLst/>
            <a:ahLst/>
            <a:cxnLst/>
            <a:rect r="r" b="b" t="t" l="l"/>
            <a:pathLst>
              <a:path h="605996" w="659996">
                <a:moveTo>
                  <a:pt x="0" y="0"/>
                </a:moveTo>
                <a:lnTo>
                  <a:pt x="659996" y="0"/>
                </a:lnTo>
                <a:lnTo>
                  <a:pt x="659996" y="605996"/>
                </a:lnTo>
                <a:lnTo>
                  <a:pt x="0" y="605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059252" y="9350612"/>
            <a:ext cx="16349706" cy="921124"/>
            <a:chOff x="0" y="0"/>
            <a:chExt cx="4306095" cy="2426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06095" cy="242601"/>
            </a:xfrm>
            <a:custGeom>
              <a:avLst/>
              <a:gdLst/>
              <a:ahLst/>
              <a:cxnLst/>
              <a:rect r="r" b="b" t="t" l="l"/>
              <a:pathLst>
                <a:path h="242601" w="4306095">
                  <a:moveTo>
                    <a:pt x="24150" y="0"/>
                  </a:moveTo>
                  <a:lnTo>
                    <a:pt x="4281946" y="0"/>
                  </a:lnTo>
                  <a:cubicBezTo>
                    <a:pt x="4295283" y="0"/>
                    <a:pt x="4306095" y="10812"/>
                    <a:pt x="4306095" y="24150"/>
                  </a:cubicBezTo>
                  <a:lnTo>
                    <a:pt x="4306095" y="218451"/>
                  </a:lnTo>
                  <a:cubicBezTo>
                    <a:pt x="4306095" y="224856"/>
                    <a:pt x="4303551" y="230998"/>
                    <a:pt x="4299022" y="235527"/>
                  </a:cubicBezTo>
                  <a:cubicBezTo>
                    <a:pt x="4294493" y="240056"/>
                    <a:pt x="4288351" y="242601"/>
                    <a:pt x="4281946" y="242601"/>
                  </a:cubicBezTo>
                  <a:lnTo>
                    <a:pt x="24150" y="242601"/>
                  </a:lnTo>
                  <a:cubicBezTo>
                    <a:pt x="10812" y="242601"/>
                    <a:pt x="0" y="231788"/>
                    <a:pt x="0" y="218451"/>
                  </a:cubicBezTo>
                  <a:lnTo>
                    <a:pt x="0" y="24150"/>
                  </a:lnTo>
                  <a:cubicBezTo>
                    <a:pt x="0" y="10812"/>
                    <a:pt x="10812" y="0"/>
                    <a:pt x="24150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306095" cy="280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5405" y="4300763"/>
            <a:ext cx="3866507" cy="1646339"/>
            <a:chOff x="0" y="0"/>
            <a:chExt cx="1221873" cy="5202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21873" cy="520268"/>
            </a:xfrm>
            <a:custGeom>
              <a:avLst/>
              <a:gdLst/>
              <a:ahLst/>
              <a:cxnLst/>
              <a:rect r="r" b="b" t="t" l="l"/>
              <a:pathLst>
                <a:path h="520268" w="1221873">
                  <a:moveTo>
                    <a:pt x="102117" y="0"/>
                  </a:moveTo>
                  <a:lnTo>
                    <a:pt x="1119756" y="0"/>
                  </a:lnTo>
                  <a:cubicBezTo>
                    <a:pt x="1176154" y="0"/>
                    <a:pt x="1221873" y="45720"/>
                    <a:pt x="1221873" y="102117"/>
                  </a:cubicBezTo>
                  <a:lnTo>
                    <a:pt x="1221873" y="418150"/>
                  </a:lnTo>
                  <a:cubicBezTo>
                    <a:pt x="1221873" y="445233"/>
                    <a:pt x="1211115" y="471207"/>
                    <a:pt x="1191964" y="490358"/>
                  </a:cubicBezTo>
                  <a:cubicBezTo>
                    <a:pt x="1172813" y="509509"/>
                    <a:pt x="1146839" y="520268"/>
                    <a:pt x="1119756" y="520268"/>
                  </a:cubicBezTo>
                  <a:lnTo>
                    <a:pt x="102117" y="520268"/>
                  </a:lnTo>
                  <a:cubicBezTo>
                    <a:pt x="45720" y="520268"/>
                    <a:pt x="0" y="474548"/>
                    <a:pt x="0" y="418150"/>
                  </a:cubicBezTo>
                  <a:lnTo>
                    <a:pt x="0" y="102117"/>
                  </a:lnTo>
                  <a:cubicBezTo>
                    <a:pt x="0" y="75034"/>
                    <a:pt x="10759" y="49060"/>
                    <a:pt x="29910" y="29910"/>
                  </a:cubicBezTo>
                  <a:cubicBezTo>
                    <a:pt x="49060" y="10759"/>
                    <a:pt x="75034" y="0"/>
                    <a:pt x="102117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21873" cy="55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996" y="6370061"/>
            <a:ext cx="4126482" cy="2058165"/>
            <a:chOff x="0" y="0"/>
            <a:chExt cx="1456868" cy="7266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6868" cy="726642"/>
            </a:xfrm>
            <a:custGeom>
              <a:avLst/>
              <a:gdLst/>
              <a:ahLst/>
              <a:cxnLst/>
              <a:rect r="r" b="b" t="t" l="l"/>
              <a:pathLst>
                <a:path h="726642" w="1456868">
                  <a:moveTo>
                    <a:pt x="95684" y="0"/>
                  </a:moveTo>
                  <a:lnTo>
                    <a:pt x="1361184" y="0"/>
                  </a:lnTo>
                  <a:cubicBezTo>
                    <a:pt x="1386561" y="0"/>
                    <a:pt x="1410899" y="10081"/>
                    <a:pt x="1428843" y="28025"/>
                  </a:cubicBezTo>
                  <a:cubicBezTo>
                    <a:pt x="1446787" y="45969"/>
                    <a:pt x="1456868" y="70307"/>
                    <a:pt x="1456868" y="95684"/>
                  </a:cubicBezTo>
                  <a:lnTo>
                    <a:pt x="1456868" y="630958"/>
                  </a:lnTo>
                  <a:cubicBezTo>
                    <a:pt x="1456868" y="656335"/>
                    <a:pt x="1446787" y="680673"/>
                    <a:pt x="1428843" y="698617"/>
                  </a:cubicBezTo>
                  <a:cubicBezTo>
                    <a:pt x="1410899" y="716561"/>
                    <a:pt x="1386561" y="726642"/>
                    <a:pt x="1361184" y="726642"/>
                  </a:cubicBezTo>
                  <a:lnTo>
                    <a:pt x="95684" y="726642"/>
                  </a:lnTo>
                  <a:cubicBezTo>
                    <a:pt x="70307" y="726642"/>
                    <a:pt x="45969" y="716561"/>
                    <a:pt x="28025" y="698617"/>
                  </a:cubicBezTo>
                  <a:cubicBezTo>
                    <a:pt x="10081" y="680673"/>
                    <a:pt x="0" y="656335"/>
                    <a:pt x="0" y="630958"/>
                  </a:cubicBezTo>
                  <a:lnTo>
                    <a:pt x="0" y="95684"/>
                  </a:lnTo>
                  <a:cubicBezTo>
                    <a:pt x="0" y="70307"/>
                    <a:pt x="10081" y="45969"/>
                    <a:pt x="28025" y="28025"/>
                  </a:cubicBezTo>
                  <a:cubicBezTo>
                    <a:pt x="45969" y="10081"/>
                    <a:pt x="70307" y="0"/>
                    <a:pt x="95684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56868" cy="764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509576" y="6085656"/>
            <a:ext cx="1273335" cy="66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b="true" sz="18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584.833 </a:t>
            </a:r>
          </a:p>
          <a:p>
            <a:pPr algn="ctr">
              <a:lnSpc>
                <a:spcPts val="2617"/>
              </a:lnSpc>
              <a:spcBef>
                <a:spcPct val="0"/>
              </a:spcBef>
            </a:pPr>
            <a:r>
              <a:rPr lang="en-US" b="true" sz="18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1.001.766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5481218" y="6433251"/>
            <a:ext cx="1301471" cy="1703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0842554" y="3849862"/>
            <a:ext cx="3701269" cy="5421050"/>
          </a:xfrm>
          <a:custGeom>
            <a:avLst/>
            <a:gdLst/>
            <a:ahLst/>
            <a:cxnLst/>
            <a:rect r="r" b="b" t="t" l="l"/>
            <a:pathLst>
              <a:path h="5421050" w="3701269">
                <a:moveTo>
                  <a:pt x="0" y="0"/>
                </a:moveTo>
                <a:lnTo>
                  <a:pt x="3701269" y="0"/>
                </a:lnTo>
                <a:lnTo>
                  <a:pt x="3701269" y="5421051"/>
                </a:lnTo>
                <a:lnTo>
                  <a:pt x="0" y="54210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058079" y="2820326"/>
            <a:ext cx="2959737" cy="6505966"/>
          </a:xfrm>
          <a:custGeom>
            <a:avLst/>
            <a:gdLst/>
            <a:ahLst/>
            <a:cxnLst/>
            <a:rect r="r" b="b" t="t" l="l"/>
            <a:pathLst>
              <a:path h="6505966" w="2959737">
                <a:moveTo>
                  <a:pt x="0" y="0"/>
                </a:moveTo>
                <a:lnTo>
                  <a:pt x="2959737" y="0"/>
                </a:lnTo>
                <a:lnTo>
                  <a:pt x="2959737" y="6505967"/>
                </a:lnTo>
                <a:lnTo>
                  <a:pt x="0" y="6505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779327" y="49951"/>
            <a:ext cx="10729347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67A2AB"/>
                </a:solidFill>
                <a:latin typeface="Bernoru"/>
                <a:ea typeface="Bernoru"/>
                <a:cs typeface="Bernoru"/>
                <a:sym typeface="Bernoru"/>
              </a:rPr>
              <a:t>ENT</a:t>
            </a:r>
            <a:r>
              <a:rPr lang="en-US" sz="5300">
                <a:solidFill>
                  <a:srgbClr val="67A2AB"/>
                </a:solidFill>
                <a:latin typeface="Bernoru"/>
                <a:ea typeface="Bernoru"/>
                <a:cs typeface="Bernoru"/>
                <a:sym typeface="Bernoru"/>
              </a:rPr>
              <a:t>ENDIMIENTO DEL NEGOCIO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1873" y="1319737"/>
            <a:ext cx="6660079" cy="3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b="true" sz="23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PROBLEMA QUEREMOS RESOLV</a:t>
            </a:r>
            <a:r>
              <a:rPr lang="en-US" b="true" sz="23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76443" y="1233784"/>
            <a:ext cx="5516379" cy="37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26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DE NEGOCIO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4562" y="1677901"/>
            <a:ext cx="7057391" cy="120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7"/>
              </a:lnSpc>
            </a:pPr>
            <a:r>
              <a:rPr lang="en-US" sz="195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el área de Urgencias del Hospital Obrero N.º 1 de La Paz se presentan dificultades en la demanda de atención, lo que puede dificulta la atencion a los pacientes.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76443" y="1594711"/>
            <a:ext cx="6666997" cy="136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5"/>
              </a:lnSpc>
            </a:pPr>
            <a:r>
              <a:rPr lang="en-US" sz="221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Implementar una ruta de atención diferenciada para pacientes de niveles 4 y 5.</a:t>
            </a:r>
          </a:p>
          <a:p>
            <a:pPr algn="just">
              <a:lnSpc>
                <a:spcPts val="2685"/>
              </a:lnSpc>
            </a:pPr>
            <a:r>
              <a:rPr lang="en-US" sz="221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 una zona de atención rápida o derivación.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66579" y="9583468"/>
            <a:ext cx="13554841" cy="46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8"/>
              </a:lnSpc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busca REDUCIR CONGESTIÓN Y PRIORIZAR PACIENTES DE MAYOR RIESGO </a:t>
            </a: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8699" y="3298762"/>
            <a:ext cx="8213369" cy="59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3425">
                <a:solidFill>
                  <a:srgbClr val="67A2AB"/>
                </a:solidFill>
                <a:latin typeface="Bernoru"/>
                <a:ea typeface="Bernoru"/>
                <a:cs typeface="Bernoru"/>
                <a:sym typeface="Bernoru"/>
              </a:rPr>
              <a:t>MÉTR</a:t>
            </a:r>
            <a:r>
              <a:rPr lang="en-US" sz="3425">
                <a:solidFill>
                  <a:srgbClr val="67A2AB"/>
                </a:solidFill>
                <a:latin typeface="Bernoru"/>
                <a:ea typeface="Bernoru"/>
                <a:cs typeface="Bernoru"/>
                <a:sym typeface="Bernoru"/>
              </a:rPr>
              <a:t>ICA PRINCIPAL DEL PROYECTO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2677" y="4783805"/>
            <a:ext cx="3346649" cy="102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87"/>
              </a:lnSpc>
            </a:pPr>
            <a:r>
              <a:rPr lang="en-US" sz="194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Mide la proporción de registros de atención que corresponden a los niveles de triaje.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76177" y="7150990"/>
            <a:ext cx="3459649" cy="105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4"/>
              </a:lnSpc>
            </a:pPr>
            <a:r>
              <a:rPr lang="en-US" sz="201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Permite identificar qué proporción de la demanda se concentra en estos niveles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4246652"/>
            <a:ext cx="2290127" cy="51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3"/>
              </a:lnSpc>
              <a:spcBef>
                <a:spcPct val="0"/>
              </a:spcBef>
            </a:pPr>
            <a:r>
              <a:rPr lang="en-US" b="true" sz="29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m</a:t>
            </a:r>
            <a:r>
              <a:rPr lang="en-US" b="true" sz="29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6548201"/>
            <a:ext cx="4195265" cy="391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5"/>
              </a:lnSpc>
              <a:spcBef>
                <a:spcPct val="0"/>
              </a:spcBef>
            </a:pPr>
            <a:r>
              <a:rPr lang="en-US" b="true" sz="22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 es important</a:t>
            </a:r>
            <a:r>
              <a:rPr lang="en-US" b="true" sz="22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534051" y="3964162"/>
            <a:ext cx="2184579" cy="6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7"/>
              </a:lnSpc>
              <a:spcBef>
                <a:spcPct val="0"/>
              </a:spcBef>
            </a:pPr>
            <a:r>
              <a:rPr lang="en-US" b="true" sz="3448">
                <a:solidFill>
                  <a:srgbClr val="55888F"/>
                </a:solidFill>
                <a:latin typeface="Poppins Bold"/>
                <a:ea typeface="Poppins Bold"/>
                <a:cs typeface="Poppins Bold"/>
                <a:sym typeface="Poppins Bold"/>
              </a:rPr>
              <a:t>Cálculo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34051" y="4699241"/>
            <a:ext cx="5143745" cy="66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7"/>
              </a:lnSpc>
              <a:spcBef>
                <a:spcPct val="0"/>
              </a:spcBef>
            </a:pPr>
            <a:r>
              <a:rPr lang="en-US" b="true" sz="18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PORCENTAJE = (REGISTROS DE NIVELES 4 Y 5 / TOTAL DE REGISTROS) × 100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61268" y="5620624"/>
            <a:ext cx="3078447" cy="33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7"/>
              </a:lnSpc>
              <a:spcBef>
                <a:spcPct val="0"/>
              </a:spcBef>
            </a:pPr>
            <a:r>
              <a:rPr lang="en-US" b="true" sz="18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530.555 + 54.278 = 584.833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82912" y="6299738"/>
            <a:ext cx="685239" cy="2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  <a:spcBef>
                <a:spcPct val="0"/>
              </a:spcBef>
            </a:pPr>
            <a:r>
              <a:rPr lang="en-US" b="true" sz="137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100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11954" y="6894593"/>
            <a:ext cx="888538" cy="33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7"/>
              </a:lnSpc>
              <a:spcBef>
                <a:spcPct val="0"/>
              </a:spcBef>
            </a:pPr>
            <a:r>
              <a:rPr lang="en-US" b="true" sz="18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58.38%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71731" y="6251771"/>
            <a:ext cx="164601" cy="33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7"/>
              </a:lnSpc>
              <a:spcBef>
                <a:spcPct val="0"/>
              </a:spcBef>
            </a:pPr>
            <a:r>
              <a:rPr lang="en-US" b="true" sz="18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=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81218" y="6894593"/>
            <a:ext cx="164601" cy="33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7"/>
              </a:lnSpc>
              <a:spcBef>
                <a:spcPct val="0"/>
              </a:spcBef>
            </a:pPr>
            <a:r>
              <a:rPr lang="en-US" b="true" sz="186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=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363244" y="7303894"/>
            <a:ext cx="4480095" cy="6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7"/>
              </a:lnSpc>
              <a:spcBef>
                <a:spcPct val="0"/>
              </a:spcBef>
            </a:pPr>
            <a:r>
              <a:rPr lang="en-US" b="true" sz="3448">
                <a:solidFill>
                  <a:srgbClr val="55888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Resultado: 58,38%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4875" y="171883"/>
            <a:ext cx="3694336" cy="768878"/>
            <a:chOff x="0" y="0"/>
            <a:chExt cx="1705405" cy="354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405" cy="354935"/>
            </a:xfrm>
            <a:custGeom>
              <a:avLst/>
              <a:gdLst/>
              <a:ahLst/>
              <a:cxnLst/>
              <a:rect r="r" b="b" t="t" l="l"/>
              <a:pathLst>
                <a:path h="354935" w="1705405">
                  <a:moveTo>
                    <a:pt x="1502205" y="0"/>
                  </a:moveTo>
                  <a:cubicBezTo>
                    <a:pt x="1614430" y="0"/>
                    <a:pt x="1705405" y="79455"/>
                    <a:pt x="1705405" y="177467"/>
                  </a:cubicBezTo>
                  <a:cubicBezTo>
                    <a:pt x="1705405" y="275480"/>
                    <a:pt x="1614430" y="354935"/>
                    <a:pt x="1502205" y="354935"/>
                  </a:cubicBezTo>
                  <a:lnTo>
                    <a:pt x="203200" y="354935"/>
                  </a:lnTo>
                  <a:cubicBezTo>
                    <a:pt x="90976" y="354935"/>
                    <a:pt x="0" y="275480"/>
                    <a:pt x="0" y="177467"/>
                  </a:cubicBezTo>
                  <a:cubicBezTo>
                    <a:pt x="0" y="79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CAD3">
                <a:alpha val="6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05405" cy="393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74833" y="3129598"/>
            <a:ext cx="21792238" cy="3575261"/>
            <a:chOff x="0" y="0"/>
            <a:chExt cx="2163430" cy="3549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3430" cy="354935"/>
            </a:xfrm>
            <a:custGeom>
              <a:avLst/>
              <a:gdLst/>
              <a:ahLst/>
              <a:cxnLst/>
              <a:rect r="r" b="b" t="t" l="l"/>
              <a:pathLst>
                <a:path h="354935" w="2163430">
                  <a:moveTo>
                    <a:pt x="1960230" y="0"/>
                  </a:moveTo>
                  <a:cubicBezTo>
                    <a:pt x="2072454" y="0"/>
                    <a:pt x="2163430" y="79455"/>
                    <a:pt x="2163430" y="177467"/>
                  </a:cubicBezTo>
                  <a:cubicBezTo>
                    <a:pt x="2163430" y="275480"/>
                    <a:pt x="2072454" y="354935"/>
                    <a:pt x="1960230" y="354935"/>
                  </a:cubicBezTo>
                  <a:lnTo>
                    <a:pt x="203200" y="354935"/>
                  </a:lnTo>
                  <a:cubicBezTo>
                    <a:pt x="90976" y="354935"/>
                    <a:pt x="0" y="275480"/>
                    <a:pt x="0" y="177467"/>
                  </a:cubicBezTo>
                  <a:cubicBezTo>
                    <a:pt x="0" y="79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CAD3">
                <a:alpha val="3686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63430" cy="393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73661" y="586173"/>
            <a:ext cx="2865104" cy="885053"/>
            <a:chOff x="0" y="0"/>
            <a:chExt cx="1148999" cy="3549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8999" cy="354935"/>
            </a:xfrm>
            <a:custGeom>
              <a:avLst/>
              <a:gdLst/>
              <a:ahLst/>
              <a:cxnLst/>
              <a:rect r="r" b="b" t="t" l="l"/>
              <a:pathLst>
                <a:path h="354935" w="1148999">
                  <a:moveTo>
                    <a:pt x="945799" y="0"/>
                  </a:moveTo>
                  <a:cubicBezTo>
                    <a:pt x="1058023" y="0"/>
                    <a:pt x="1148999" y="79455"/>
                    <a:pt x="1148999" y="177467"/>
                  </a:cubicBezTo>
                  <a:cubicBezTo>
                    <a:pt x="1148999" y="275480"/>
                    <a:pt x="1058023" y="354935"/>
                    <a:pt x="945799" y="354935"/>
                  </a:cubicBezTo>
                  <a:lnTo>
                    <a:pt x="203200" y="354935"/>
                  </a:lnTo>
                  <a:cubicBezTo>
                    <a:pt x="90976" y="354935"/>
                    <a:pt x="0" y="275480"/>
                    <a:pt x="0" y="177467"/>
                  </a:cubicBezTo>
                  <a:cubicBezTo>
                    <a:pt x="0" y="79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CAD3">
                <a:alpha val="6274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48999" cy="393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48876" y="2442044"/>
            <a:ext cx="6623977" cy="2866380"/>
            <a:chOff x="0" y="0"/>
            <a:chExt cx="2407819" cy="10419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07819" cy="1041930"/>
            </a:xfrm>
            <a:custGeom>
              <a:avLst/>
              <a:gdLst/>
              <a:ahLst/>
              <a:cxnLst/>
              <a:rect r="r" b="b" t="t" l="l"/>
              <a:pathLst>
                <a:path h="1041930" w="2407819">
                  <a:moveTo>
                    <a:pt x="59607" y="0"/>
                  </a:moveTo>
                  <a:lnTo>
                    <a:pt x="2348211" y="0"/>
                  </a:lnTo>
                  <a:cubicBezTo>
                    <a:pt x="2364020" y="0"/>
                    <a:pt x="2379182" y="6280"/>
                    <a:pt x="2390360" y="17459"/>
                  </a:cubicBezTo>
                  <a:cubicBezTo>
                    <a:pt x="2401539" y="28637"/>
                    <a:pt x="2407819" y="43799"/>
                    <a:pt x="2407819" y="59607"/>
                  </a:cubicBezTo>
                  <a:lnTo>
                    <a:pt x="2407819" y="982323"/>
                  </a:lnTo>
                  <a:cubicBezTo>
                    <a:pt x="2407819" y="998132"/>
                    <a:pt x="2401539" y="1013293"/>
                    <a:pt x="2390360" y="1024472"/>
                  </a:cubicBezTo>
                  <a:cubicBezTo>
                    <a:pt x="2379182" y="1035650"/>
                    <a:pt x="2364020" y="1041930"/>
                    <a:pt x="2348211" y="1041930"/>
                  </a:cubicBezTo>
                  <a:lnTo>
                    <a:pt x="59607" y="1041930"/>
                  </a:lnTo>
                  <a:cubicBezTo>
                    <a:pt x="43799" y="1041930"/>
                    <a:pt x="28637" y="1035650"/>
                    <a:pt x="17459" y="1024472"/>
                  </a:cubicBezTo>
                  <a:cubicBezTo>
                    <a:pt x="6280" y="1013293"/>
                    <a:pt x="0" y="998132"/>
                    <a:pt x="0" y="982323"/>
                  </a:cubicBezTo>
                  <a:lnTo>
                    <a:pt x="0" y="59607"/>
                  </a:lnTo>
                  <a:cubicBezTo>
                    <a:pt x="0" y="43799"/>
                    <a:pt x="6280" y="28637"/>
                    <a:pt x="17459" y="17459"/>
                  </a:cubicBezTo>
                  <a:cubicBezTo>
                    <a:pt x="28637" y="6280"/>
                    <a:pt x="43799" y="0"/>
                    <a:pt x="59607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07819" cy="1080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147329" y="184829"/>
            <a:ext cx="10018386" cy="67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5"/>
              </a:lnSpc>
            </a:pPr>
            <a:r>
              <a:rPr lang="en-US" b="true" sz="3918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ENTENDIMIENTO DE LOS DATOS Y EDA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35598" y="1207726"/>
            <a:ext cx="6450532" cy="114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</a:pPr>
            <a:r>
              <a:rPr lang="en-US" sz="3671">
                <a:solidFill>
                  <a:srgbClr val="67A2AB"/>
                </a:solidFill>
                <a:latin typeface="Bernoru"/>
                <a:ea typeface="Bernoru"/>
                <a:cs typeface="Bernoru"/>
                <a:sym typeface="Bernoru"/>
              </a:rPr>
              <a:t>¿HAY D</a:t>
            </a:r>
            <a:r>
              <a:rPr lang="en-US" sz="3671">
                <a:solidFill>
                  <a:srgbClr val="67A2AB"/>
                </a:solidFill>
                <a:latin typeface="Bernoru"/>
                <a:ea typeface="Bernoru"/>
                <a:cs typeface="Bernoru"/>
                <a:sym typeface="Bernoru"/>
              </a:rPr>
              <a:t>ATOS FALTANTES Y VALORES ATÍPICOS?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48876" y="2618338"/>
            <a:ext cx="6490042" cy="25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9169" indent="-214585" lvl="1">
              <a:lnSpc>
                <a:spcPts val="2902"/>
              </a:lnSpc>
              <a:buFont typeface="Arial"/>
              <a:buChar char="•"/>
            </a:pPr>
            <a:r>
              <a:rPr lang="en-US" b="true" sz="198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FUENTE: RESUMEN DE DATOS PROPORCIONADO AL EQUIPO.</a:t>
            </a:r>
          </a:p>
          <a:p>
            <a:pPr algn="l" marL="429169" indent="-214585" lvl="1">
              <a:lnSpc>
                <a:spcPts val="2902"/>
              </a:lnSpc>
              <a:buFont typeface="Arial"/>
              <a:buChar char="•"/>
            </a:pPr>
            <a:r>
              <a:rPr lang="en-US" b="true" sz="198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REGISTROS VÁLIDOS: 1.001.766.</a:t>
            </a:r>
          </a:p>
          <a:p>
            <a:pPr algn="l" marL="429169" indent="-214585" lvl="1">
              <a:lnSpc>
                <a:spcPts val="2902"/>
              </a:lnSpc>
              <a:buFont typeface="Arial"/>
              <a:buChar char="•"/>
            </a:pPr>
            <a:r>
              <a:rPr lang="en-US" b="true" sz="198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UNIDAD DE ANÁLISIS: EPISODIO DE ATENCIÓN.</a:t>
            </a:r>
          </a:p>
          <a:p>
            <a:pPr algn="l" marL="429169" indent="-214585" lvl="1">
              <a:lnSpc>
                <a:spcPts val="2902"/>
              </a:lnSpc>
              <a:buFont typeface="Arial"/>
              <a:buChar char="•"/>
            </a:pPr>
            <a:r>
              <a:rPr lang="en-US" b="true" sz="198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VARIABLE OBSERVADA: NIVEL DE TRIAJE.</a:t>
            </a:r>
          </a:p>
          <a:p>
            <a:pPr algn="l" marL="429169" indent="-214585" lvl="1">
              <a:lnSpc>
                <a:spcPts val="2902"/>
              </a:lnSpc>
              <a:buFont typeface="Arial"/>
              <a:buChar char="•"/>
            </a:pPr>
            <a:r>
              <a:rPr lang="en-US" b="true" sz="198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 DE VARIABLE: CATEGÓRICA ORDINAL.</a:t>
            </a:r>
          </a:p>
          <a:p>
            <a:pPr algn="l" marL="429169" indent="-214585" lvl="1">
              <a:lnSpc>
                <a:spcPts val="2902"/>
              </a:lnSpc>
              <a:buFont typeface="Arial"/>
              <a:buChar char="•"/>
            </a:pPr>
            <a:r>
              <a:rPr lang="en-US" b="true" sz="198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CATEGORÍAS: NIVELES 1, 2, 3, 4 Y 5.</a:t>
            </a: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215716" y="1705308"/>
          <a:ext cx="5667489" cy="5073433"/>
        </p:xfrm>
        <a:graphic>
          <a:graphicData uri="http://schemas.openxmlformats.org/drawingml/2006/table">
            <a:tbl>
              <a:tblPr/>
              <a:tblGrid>
                <a:gridCol w="1660603"/>
                <a:gridCol w="1660603"/>
                <a:gridCol w="2346283"/>
              </a:tblGrid>
              <a:tr h="844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62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A2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Registros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A2A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Porcentaje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A2AB"/>
                    </a:solidFill>
                  </a:tcPr>
                </a:tc>
              </a:tr>
              <a:tr h="844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1.219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63.642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6,35%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352.072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35,15%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530.555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52,96%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7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54.278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82"/>
                        </a:lnSpc>
                        <a:defRPr/>
                      </a:pPr>
                      <a:r>
                        <a:rPr lang="en-US" sz="1987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5,42%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215716" y="1133475"/>
            <a:ext cx="8441988" cy="44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3297">
                <a:solidFill>
                  <a:srgbClr val="5588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¿CÓMO SE DISTRIBUYEN LOS DATOS?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72142" y="1687780"/>
            <a:ext cx="5516494" cy="5108489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 rot="0">
            <a:off x="8181744" y="7190634"/>
            <a:ext cx="5160557" cy="2652121"/>
            <a:chOff x="0" y="0"/>
            <a:chExt cx="1359159" cy="6985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59159" cy="698501"/>
            </a:xfrm>
            <a:custGeom>
              <a:avLst/>
              <a:gdLst/>
              <a:ahLst/>
              <a:cxnLst/>
              <a:rect r="r" b="b" t="t" l="l"/>
              <a:pathLst>
                <a:path h="698501" w="1359159">
                  <a:moveTo>
                    <a:pt x="76511" y="0"/>
                  </a:moveTo>
                  <a:lnTo>
                    <a:pt x="1282648" y="0"/>
                  </a:lnTo>
                  <a:cubicBezTo>
                    <a:pt x="1324904" y="0"/>
                    <a:pt x="1359159" y="34255"/>
                    <a:pt x="1359159" y="76511"/>
                  </a:cubicBezTo>
                  <a:lnTo>
                    <a:pt x="1359159" y="621990"/>
                  </a:lnTo>
                  <a:cubicBezTo>
                    <a:pt x="1359159" y="664246"/>
                    <a:pt x="1324904" y="698501"/>
                    <a:pt x="1282648" y="698501"/>
                  </a:cubicBezTo>
                  <a:lnTo>
                    <a:pt x="76511" y="698501"/>
                  </a:lnTo>
                  <a:cubicBezTo>
                    <a:pt x="34255" y="698501"/>
                    <a:pt x="0" y="664246"/>
                    <a:pt x="0" y="621990"/>
                  </a:cubicBezTo>
                  <a:lnTo>
                    <a:pt x="0" y="76511"/>
                  </a:lnTo>
                  <a:cubicBezTo>
                    <a:pt x="0" y="34255"/>
                    <a:pt x="34255" y="0"/>
                    <a:pt x="76511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59159" cy="73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53855" y="7190634"/>
            <a:ext cx="4385063" cy="2539602"/>
            <a:chOff x="0" y="0"/>
            <a:chExt cx="1788401" cy="10357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88401" cy="1035749"/>
            </a:xfrm>
            <a:custGeom>
              <a:avLst/>
              <a:gdLst/>
              <a:ahLst/>
              <a:cxnLst/>
              <a:rect r="r" b="b" t="t" l="l"/>
              <a:pathLst>
                <a:path h="1035749" w="1788401">
                  <a:moveTo>
                    <a:pt x="90042" y="0"/>
                  </a:moveTo>
                  <a:lnTo>
                    <a:pt x="1698360" y="0"/>
                  </a:lnTo>
                  <a:cubicBezTo>
                    <a:pt x="1748088" y="0"/>
                    <a:pt x="1788401" y="40313"/>
                    <a:pt x="1788401" y="90042"/>
                  </a:cubicBezTo>
                  <a:lnTo>
                    <a:pt x="1788401" y="945708"/>
                  </a:lnTo>
                  <a:cubicBezTo>
                    <a:pt x="1788401" y="969588"/>
                    <a:pt x="1778915" y="992491"/>
                    <a:pt x="1762029" y="1009377"/>
                  </a:cubicBezTo>
                  <a:cubicBezTo>
                    <a:pt x="1745143" y="1026263"/>
                    <a:pt x="1722240" y="1035749"/>
                    <a:pt x="1698360" y="1035749"/>
                  </a:cubicBezTo>
                  <a:lnTo>
                    <a:pt x="90042" y="1035749"/>
                  </a:lnTo>
                  <a:cubicBezTo>
                    <a:pt x="66161" y="1035749"/>
                    <a:pt x="43259" y="1026263"/>
                    <a:pt x="26373" y="1009377"/>
                  </a:cubicBezTo>
                  <a:cubicBezTo>
                    <a:pt x="9486" y="992491"/>
                    <a:pt x="0" y="969588"/>
                    <a:pt x="0" y="945708"/>
                  </a:cubicBezTo>
                  <a:lnTo>
                    <a:pt x="0" y="90042"/>
                  </a:lnTo>
                  <a:cubicBezTo>
                    <a:pt x="0" y="66161"/>
                    <a:pt x="9486" y="43259"/>
                    <a:pt x="26373" y="26373"/>
                  </a:cubicBezTo>
                  <a:cubicBezTo>
                    <a:pt x="43259" y="9486"/>
                    <a:pt x="66161" y="0"/>
                    <a:pt x="90042" y="0"/>
                  </a:cubicBezTo>
                  <a:close/>
                </a:path>
              </a:pathLst>
            </a:custGeom>
            <a:solidFill>
              <a:srgbClr val="5EB2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88401" cy="1073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590645" y="8246094"/>
            <a:ext cx="4342755" cy="125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8"/>
              </a:lnSpc>
            </a:pPr>
            <a:r>
              <a:rPr lang="en-US" sz="205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análisis permitió observar la relación entre el nivel de triaje y el tiempo de espera de los pacientes.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83480" y="7680061"/>
            <a:ext cx="3925812" cy="205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6"/>
              </a:lnSpc>
            </a:pPr>
            <a:r>
              <a:rPr lang="en-US" sz="190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58,38 % de los registros corresponden a los niveles 4 y 5.</a:t>
            </a:r>
          </a:p>
          <a:p>
            <a:pPr algn="just">
              <a:lnSpc>
                <a:spcPts val="2306"/>
              </a:lnSpc>
            </a:pPr>
            <a:r>
              <a:rPr lang="en-US" sz="190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Esto evidencia una alta concentración de pacientes de menor urgencia dentro de la demanda de Urgencias.</a:t>
            </a:r>
          </a:p>
          <a:p>
            <a:pPr algn="just">
              <a:lnSpc>
                <a:spcPts val="230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3973659" y="7210148"/>
            <a:ext cx="3465005" cy="40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b="true" sz="22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Hallazgo inter</a:t>
            </a:r>
            <a:r>
              <a:rPr lang="en-US" b="true" sz="22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esante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93221" y="7304528"/>
            <a:ext cx="3761387" cy="75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8"/>
              </a:lnSpc>
              <a:spcBef>
                <a:spcPct val="0"/>
              </a:spcBef>
            </a:pPr>
            <a:r>
              <a:rPr lang="en-US" b="true" sz="211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Nivel de tr</a:t>
            </a:r>
            <a:r>
              <a:rPr lang="en-US" b="true" sz="211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iaje y tiempo de espera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5358" y="7073959"/>
            <a:ext cx="704248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¿QUÉ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 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R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E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LA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CI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NE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S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 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EXISTE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N 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Y CUÁL 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E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S 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E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L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 HA</a:t>
            </a:r>
            <a:r>
              <a:rPr lang="en-US" sz="3000" strike="noStrike" u="none">
                <a:solidFill>
                  <a:srgbClr val="55888F"/>
                </a:solidFill>
                <a:latin typeface="Bernoru"/>
                <a:ea typeface="Bernoru"/>
                <a:cs typeface="Bernoru"/>
                <a:sym typeface="Bernoru"/>
              </a:rPr>
              <a:t>LLAZGO?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5358" y="8359834"/>
            <a:ext cx="6430400" cy="161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5"/>
              </a:lnSpc>
            </a:pPr>
            <a:r>
              <a:rPr lang="en-US" sz="25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hallazgo permite orientar estrategias para reducir la congestión y mejorar la priorización de la atención.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4792529" y="4879655"/>
            <a:ext cx="10942047" cy="4343891"/>
            <a:chOff x="0" y="0"/>
            <a:chExt cx="958343" cy="380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8343" cy="380453"/>
            </a:xfrm>
            <a:custGeom>
              <a:avLst/>
              <a:gdLst/>
              <a:ahLst/>
              <a:cxnLst/>
              <a:rect r="r" b="b" t="t" l="l"/>
              <a:pathLst>
                <a:path h="380453" w="958343">
                  <a:moveTo>
                    <a:pt x="755143" y="0"/>
                  </a:moveTo>
                  <a:cubicBezTo>
                    <a:pt x="867367" y="0"/>
                    <a:pt x="958343" y="85167"/>
                    <a:pt x="958343" y="190227"/>
                  </a:cubicBezTo>
                  <a:cubicBezTo>
                    <a:pt x="958343" y="295286"/>
                    <a:pt x="867367" y="380453"/>
                    <a:pt x="755143" y="380453"/>
                  </a:cubicBezTo>
                  <a:lnTo>
                    <a:pt x="203200" y="380453"/>
                  </a:lnTo>
                  <a:cubicBezTo>
                    <a:pt x="90976" y="380453"/>
                    <a:pt x="0" y="295286"/>
                    <a:pt x="0" y="190227"/>
                  </a:cubicBezTo>
                  <a:cubicBezTo>
                    <a:pt x="0" y="8516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CAD3">
                <a:alpha val="4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58343" cy="418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3356700" y="2349967"/>
            <a:ext cx="7233080" cy="2871466"/>
            <a:chOff x="0" y="0"/>
            <a:chExt cx="958343" cy="380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8343" cy="380453"/>
            </a:xfrm>
            <a:custGeom>
              <a:avLst/>
              <a:gdLst/>
              <a:ahLst/>
              <a:cxnLst/>
              <a:rect r="r" b="b" t="t" l="l"/>
              <a:pathLst>
                <a:path h="380453" w="958343">
                  <a:moveTo>
                    <a:pt x="755143" y="0"/>
                  </a:moveTo>
                  <a:cubicBezTo>
                    <a:pt x="867367" y="0"/>
                    <a:pt x="958343" y="85167"/>
                    <a:pt x="958343" y="190227"/>
                  </a:cubicBezTo>
                  <a:cubicBezTo>
                    <a:pt x="958343" y="295286"/>
                    <a:pt x="867367" y="380453"/>
                    <a:pt x="755143" y="380453"/>
                  </a:cubicBezTo>
                  <a:lnTo>
                    <a:pt x="203200" y="380453"/>
                  </a:lnTo>
                  <a:cubicBezTo>
                    <a:pt x="90976" y="380453"/>
                    <a:pt x="0" y="295286"/>
                    <a:pt x="0" y="190227"/>
                  </a:cubicBezTo>
                  <a:cubicBezTo>
                    <a:pt x="0" y="8516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CAD3">
                <a:alpha val="4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58343" cy="418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97010" y="3670742"/>
            <a:ext cx="11067039" cy="373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49"/>
              </a:lnSpc>
            </a:pPr>
            <a:r>
              <a:rPr lang="en-US" b="true" sz="13893">
                <a:solidFill>
                  <a:srgbClr val="67A2AB"/>
                </a:solidFill>
                <a:latin typeface="Ruda Bold"/>
                <a:ea typeface="Ruda Bold"/>
                <a:cs typeface="Ruda Bold"/>
                <a:sym typeface="Ruda Bold"/>
              </a:rPr>
              <a:t>GRACIAS POR LA ATENCIÓN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330098" y="539581"/>
            <a:ext cx="2264709" cy="1526673"/>
            <a:chOff x="0" y="0"/>
            <a:chExt cx="3019612" cy="20355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746825" y="0"/>
              <a:ext cx="1272787" cy="1255901"/>
            </a:xfrm>
            <a:custGeom>
              <a:avLst/>
              <a:gdLst/>
              <a:ahLst/>
              <a:cxnLst/>
              <a:rect r="r" b="b" t="t" l="l"/>
              <a:pathLst>
                <a:path h="1255901" w="1272787">
                  <a:moveTo>
                    <a:pt x="0" y="0"/>
                  </a:moveTo>
                  <a:lnTo>
                    <a:pt x="1272787" y="0"/>
                  </a:lnTo>
                  <a:lnTo>
                    <a:pt x="1272787" y="1255901"/>
                  </a:lnTo>
                  <a:lnTo>
                    <a:pt x="0" y="1255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495778" b="-543573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27950"/>
              <a:ext cx="849094" cy="837829"/>
            </a:xfrm>
            <a:custGeom>
              <a:avLst/>
              <a:gdLst/>
              <a:ahLst/>
              <a:cxnLst/>
              <a:rect r="r" b="b" t="t" l="l"/>
              <a:pathLst>
                <a:path h="837829" w="849094">
                  <a:moveTo>
                    <a:pt x="0" y="0"/>
                  </a:moveTo>
                  <a:lnTo>
                    <a:pt x="849094" y="0"/>
                  </a:lnTo>
                  <a:lnTo>
                    <a:pt x="849094" y="837829"/>
                  </a:lnTo>
                  <a:lnTo>
                    <a:pt x="0" y="837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495778" b="-543573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21418" y="1255901"/>
              <a:ext cx="790146" cy="779663"/>
            </a:xfrm>
            <a:custGeom>
              <a:avLst/>
              <a:gdLst/>
              <a:ahLst/>
              <a:cxnLst/>
              <a:rect r="r" b="b" t="t" l="l"/>
              <a:pathLst>
                <a:path h="779663" w="790146">
                  <a:moveTo>
                    <a:pt x="0" y="0"/>
                  </a:moveTo>
                  <a:lnTo>
                    <a:pt x="790146" y="0"/>
                  </a:lnTo>
                  <a:lnTo>
                    <a:pt x="790146" y="779663"/>
                  </a:lnTo>
                  <a:lnTo>
                    <a:pt x="0" y="77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495778" b="-54357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7638" y="8316375"/>
            <a:ext cx="1654160" cy="1495607"/>
            <a:chOff x="0" y="0"/>
            <a:chExt cx="2205546" cy="19941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32759" y="0"/>
              <a:ext cx="1272787" cy="1255901"/>
            </a:xfrm>
            <a:custGeom>
              <a:avLst/>
              <a:gdLst/>
              <a:ahLst/>
              <a:cxnLst/>
              <a:rect r="r" b="b" t="t" l="l"/>
              <a:pathLst>
                <a:path h="1255901" w="1272787">
                  <a:moveTo>
                    <a:pt x="0" y="0"/>
                  </a:moveTo>
                  <a:lnTo>
                    <a:pt x="1272787" y="0"/>
                  </a:lnTo>
                  <a:lnTo>
                    <a:pt x="1272787" y="1255901"/>
                  </a:lnTo>
                  <a:lnTo>
                    <a:pt x="0" y="1255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495778" b="-543573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73759"/>
              <a:ext cx="932759" cy="920383"/>
            </a:xfrm>
            <a:custGeom>
              <a:avLst/>
              <a:gdLst/>
              <a:ahLst/>
              <a:cxnLst/>
              <a:rect r="r" b="b" t="t" l="l"/>
              <a:pathLst>
                <a:path h="920383" w="932759">
                  <a:moveTo>
                    <a:pt x="0" y="0"/>
                  </a:moveTo>
                  <a:lnTo>
                    <a:pt x="932759" y="0"/>
                  </a:lnTo>
                  <a:lnTo>
                    <a:pt x="932759" y="920383"/>
                  </a:lnTo>
                  <a:lnTo>
                    <a:pt x="0" y="920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495778" b="-54357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DAHS92dpeNw</dc:identifier>
  <dcterms:modified xsi:type="dcterms:W3CDTF">2011-08-01T06:04:30Z</dcterms:modified>
  <cp:revision>1</cp:revision>
  <dc:title>Presentación de Equipo Médico Geométrico Celeste y Crema</dc:title>
</cp:coreProperties>
</file>